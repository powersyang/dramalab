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0000" cy="685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0000" y="0"/>
            <a:ext cx="900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152000"/>
            <a:ext cx="30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商务汇报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584000"/>
            <a:ext cx="612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人工智能在教育与组织场景中的应用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2520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0FF"/>
                </a:solidFill>
                <a:latin typeface="Microsoft YaHei"/>
              </a:rPr>
              <a:t>从教学提效到流程自动化的落地路径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16000" y="1512000"/>
            <a:ext cx="6263999" cy="151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0" y="1800000"/>
            <a:ext cx="5688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0224A"/>
                </a:solidFill>
                <a:latin typeface="Microsoft YaHei"/>
              </a:rPr>
              <a:t>本次演讲聚焦两个问题：
1. AI 如何重塑课前、课中、课后教学流程
2. AI 如何在数据分析、审批、内容生成中形成业务价值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2000" y="3600000"/>
            <a:ext cx="1872000" cy="360000"/>
          </a:xfrm>
          <a:prstGeom prst="roundRect">
            <a:avLst/>
          </a:prstGeom>
          <a:solidFill>
            <a:srgbClr val="E2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8000" y="3690000"/>
            <a:ext cx="1655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63EB"/>
                </a:solidFill>
                <a:latin typeface="Microsoft YaHei"/>
              </a:rPr>
              <a:t>教育数字化升级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0000" y="3600000"/>
            <a:ext cx="1728000" cy="360000"/>
          </a:xfrm>
          <a:prstGeom prst="roundRect">
            <a:avLst/>
          </a:prstGeom>
          <a:solidFill>
            <a:srgbClr val="D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6000" y="3690000"/>
            <a:ext cx="1475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Microsoft YaHei"/>
              </a:rPr>
              <a:t>运营效率提升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48000" y="3600000"/>
            <a:ext cx="1800000" cy="36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4000" y="3690000"/>
            <a:ext cx="15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可复制的应用场景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汇报目录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围绕教育主场景与通用AI能力两条主线展开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3999" y="1548000"/>
            <a:ext cx="11016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4000" y="1710000"/>
            <a:ext cx="720000" cy="486000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828800"/>
            <a:ext cx="503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" y="1699200"/>
            <a:ext cx="43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为什么现在要关注 AI+教育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" y="1961999"/>
            <a:ext cx="64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从提效工具走向教学与管理协同平台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999" y="2664000"/>
            <a:ext cx="11016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4000" y="2826000"/>
            <a:ext cx="720000" cy="486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944800"/>
            <a:ext cx="503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" y="2815200"/>
            <a:ext cx="43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课前、课中、课后的应用全景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2000" y="3077999"/>
            <a:ext cx="64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把教学过程拆解成可量化、可优化的节点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999" y="3780000"/>
            <a:ext cx="11016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4000" y="3942000"/>
            <a:ext cx="720000" cy="4860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4060800"/>
            <a:ext cx="503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2000" y="3931200"/>
            <a:ext cx="43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三个通用 AI 演示方向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2000" y="4193999"/>
            <a:ext cx="64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数据统计、流程审批、视频生成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999" y="4896000"/>
            <a:ext cx="11016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4000" y="5058000"/>
            <a:ext cx="720000" cy="486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5176800"/>
            <a:ext cx="503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2000" y="5047200"/>
            <a:ext cx="43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落地建议与合作价值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2000" y="5309999"/>
            <a:ext cx="64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从试点到规模化推广的实施路径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为什么现在是 AI+教育 的关键窗口期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AI 不只是展示型功能，而是贯穿教学与管理流程的生产力工具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548000"/>
            <a:ext cx="3491999" cy="194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00800" cy="1944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99" y="1710000"/>
            <a:ext cx="309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教学内容生产提效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" y="2034000"/>
            <a:ext cx="313199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备课从人工整理，转向素材自动生成与快速迭代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视频、图片、实验演示内容可按课程即时定制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缩短教师从想法到课堂落地的准备周期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0000" y="1548000"/>
            <a:ext cx="3491999" cy="194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00" y="1548000"/>
            <a:ext cx="100800" cy="1944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1999" y="1710000"/>
            <a:ext cx="309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课堂过程可互动、可分析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4000" y="2034000"/>
            <a:ext cx="313199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课堂提问与互动内容可以即时生成与推送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课堂行为数据与互动结果可以自动汇总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让“课堂效果”从经验判断变成数据支持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8000" y="1548000"/>
            <a:ext cx="3240000" cy="194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8000" y="1548000"/>
            <a:ext cx="100800" cy="194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9999" y="1710000"/>
            <a:ext cx="284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校内管理与运营自动化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2000" y="2034000"/>
            <a:ext cx="288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数据统计、审批流、内容生产具备可复制性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减少重复劳动，释放组织管理效率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形成平台化能力，而非单点工具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3996000"/>
            <a:ext cx="10656000" cy="1224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4230000"/>
            <a:ext cx="102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核心结论：AI 最适合优先切入“高频、重复、标准化程度高”的教育与管理环节，再逐步向个性化教学支持延伸。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4716000"/>
            <a:ext cx="1026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这意味着项目落地时应先做试点闭环，再做规模复制。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AI+教育应用全景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以教学全生命周期为主线：课前、课中、课后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4000" y="2556000"/>
            <a:ext cx="2808000" cy="720000"/>
          </a:xfrm>
          <a:prstGeom prst="round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8000" y="2754000"/>
            <a:ext cx="25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人工智能 + 教育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655999"/>
            <a:ext cx="3096000" cy="172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655999"/>
            <a:ext cx="100800" cy="172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99" y="1817999"/>
            <a:ext cx="27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课前：内容准备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000" y="2141999"/>
            <a:ext cx="27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备课内容输出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实验/情景/知识点素材生成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教师准备效率提升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744000"/>
            <a:ext cx="3096000" cy="1655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" y="3744000"/>
            <a:ext cx="100800" cy="165599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99" y="3906000"/>
            <a:ext cx="27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课后：学习闭环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00" y="4230000"/>
            <a:ext cx="273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EA5E9"/>
                </a:solidFill>
                <a:latin typeface="Microsoft YaHei"/>
              </a:rPr>
              <a:t>作业布置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EA5E9"/>
                </a:solidFill>
                <a:latin typeface="Microsoft YaHei"/>
              </a:rPr>
              <a:t>主观题与客观题自动批改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EA5E9"/>
                </a:solidFill>
                <a:latin typeface="Microsoft YaHei"/>
              </a:rPr>
              <a:t>学习结果快速反馈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1655999"/>
            <a:ext cx="3096000" cy="172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0000" y="1655999"/>
            <a:ext cx="100800" cy="172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999" y="1817999"/>
            <a:ext cx="27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课中：互动与评价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4000" y="2141999"/>
            <a:ext cx="27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课堂互动即时触发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课堂行为分析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课堂效果输出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0000" y="3744000"/>
            <a:ext cx="3096000" cy="1655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0000" y="3744000"/>
            <a:ext cx="100800" cy="16559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999" y="3906000"/>
            <a:ext cx="27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延展能力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4000" y="4230000"/>
            <a:ext cx="273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AI体育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管理系统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校园治理与平台协同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Pre-Class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课前：让备课从“找素材”升级为“生产内容”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围绕脑图中的备课内容输出展开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548000"/>
            <a:ext cx="3420000" cy="345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00800" cy="3456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99" y="1710000"/>
            <a:ext cx="302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场景一：物理实验游戏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" y="2034000"/>
            <a:ext cx="30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AI 根据知识点自动生成实验演示与互动玩法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适合把抽象原理转化为可视化、可参与的体验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价值：提高理解效率，降低教师素材制作成本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6000" y="1548000"/>
            <a:ext cx="3420000" cy="345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6000" y="1548000"/>
            <a:ext cx="100800" cy="345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7999" y="1710000"/>
            <a:ext cx="302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场景二：语文情景式教学视频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000" y="2034000"/>
            <a:ext cx="30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围绕古诗、课文或文学场景生成画面与短视频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把文字意境转成情境化教学内容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D9488"/>
                </a:solidFill>
                <a:latin typeface="Microsoft YaHei"/>
              </a:rPr>
              <a:t>价值：增强课堂代入感，提升学生注意力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0" y="1548000"/>
            <a:ext cx="3240000" cy="345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0000" y="1548000"/>
            <a:ext cx="100800" cy="345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1999" y="1710000"/>
            <a:ext cx="284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场景三：计算机组成图像/视频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4000" y="2034000"/>
            <a:ext cx="28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用 AI 生成 CPU、ROM、总线等模块示意图与讲解视频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适用于职业教育、信息技术课程等结构性知识教学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59E0B"/>
                </a:solidFill>
                <a:latin typeface="Microsoft YaHei"/>
              </a:rPr>
              <a:t>价值：统一教学素材标准，提升复杂知识表达效率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In-Class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课中：把课堂互动与教学评价做成实时闭环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对应脑图中的课堂互动与课堂评价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655999"/>
            <a:ext cx="5292000" cy="331199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872000"/>
            <a:ext cx="21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224A"/>
                </a:solidFill>
                <a:latin typeface="Microsoft YaHei"/>
              </a:rPr>
              <a:t>课堂互动示例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232000"/>
            <a:ext cx="4536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icrosoft YaHei"/>
              </a:rPr>
              <a:t>老师讲完“计算机组成原理”后，即时发起问题：
“ROM 属于计算机的哪个模块？”
学生端同步弹出互动卡片完成答题。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3240000"/>
            <a:ext cx="1872000" cy="1224000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4000" y="3438000"/>
            <a:ext cx="154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463EB"/>
                </a:solidFill>
                <a:latin typeface="Microsoft YaHei"/>
              </a:rPr>
              <a:t>教师端
发布互动问题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0" y="3240000"/>
            <a:ext cx="1872000" cy="1224000"/>
          </a:xfrm>
          <a:prstGeom prst="roundRect">
            <a:avLst/>
          </a:prstGeom>
          <a:solidFill>
            <a:srgbClr val="D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999" y="3438000"/>
            <a:ext cx="154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D9488"/>
                </a:solidFill>
                <a:latin typeface="Microsoft YaHei"/>
              </a:rPr>
              <a:t>学生端
接收并回答</a:t>
            </a:r>
          </a:p>
        </p:txBody>
      </p:sp>
      <p:sp>
        <p:nvSpPr>
          <p:cNvPr id="14" name="Chevron 13"/>
          <p:cNvSpPr/>
          <p:nvPr/>
        </p:nvSpPr>
        <p:spPr>
          <a:xfrm>
            <a:off x="2736000" y="3636000"/>
            <a:ext cx="360000" cy="4320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0000" y="1655999"/>
            <a:ext cx="5040000" cy="3311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0" y="1655999"/>
            <a:ext cx="100800" cy="331199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1999" y="1817999"/>
            <a:ext cx="464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课堂评价输出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4000" y="2141999"/>
            <a:ext cx="4680000" cy="27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D9488"/>
                </a:solidFill>
                <a:latin typeface="Microsoft YaHei"/>
              </a:rPr>
              <a:t>AI 分析教师课堂行为、讲授节奏和学生互动反馈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D9488"/>
                </a:solidFill>
                <a:latin typeface="Microsoft YaHei"/>
              </a:rPr>
              <a:t>把课堂参与度、响应情况、知识点理解情况形成结果输出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D9488"/>
                </a:solidFill>
                <a:latin typeface="Microsoft YaHei"/>
              </a:rPr>
              <a:t>帮助管理层、教研组和教师本人做复盘优化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D9488"/>
                </a:solidFill>
                <a:latin typeface="Microsoft YaHei"/>
              </a:rPr>
              <a:t>从“感觉课堂不错”升级为“课堂效果可观测、可追踪”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Post-Class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课后与延展：形成学习闭环，并向校园管理外溢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覆盖作业、批改、AI体育与管理系统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548000"/>
            <a:ext cx="3456000" cy="316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00800" cy="316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99" y="1710000"/>
            <a:ext cx="30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作业布置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" y="2034000"/>
            <a:ext cx="3096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根据课程内容自动生成作业建议与题目组合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支持因材施教的分层作业设计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463EB"/>
                </a:solidFill>
                <a:latin typeface="Microsoft YaHei"/>
              </a:rPr>
              <a:t>让教师从重复性出题中解放出来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000" y="1548000"/>
            <a:ext cx="3456000" cy="316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8000" y="1548000"/>
            <a:ext cx="100800" cy="316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9999" y="1710000"/>
            <a:ext cx="30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AI 自动批改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2000" y="2034000"/>
            <a:ext cx="3096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EA5E9"/>
                </a:solidFill>
                <a:latin typeface="Microsoft YaHei"/>
              </a:rPr>
              <a:t>覆盖客观题快速批改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EA5E9"/>
                </a:solidFill>
                <a:latin typeface="Microsoft YaHei"/>
              </a:rPr>
              <a:t>结合规则与模型能力辅助主观题评价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EA5E9"/>
                </a:solidFill>
                <a:latin typeface="Microsoft YaHei"/>
              </a:rPr>
              <a:t>缩短反馈周期，提升学生改进效率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3999" y="1548000"/>
            <a:ext cx="3131999" cy="1475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3999" y="1548000"/>
            <a:ext cx="100800" cy="147599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5998" y="1710000"/>
            <a:ext cx="273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AI 体育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7999" y="2034000"/>
            <a:ext cx="2771999" cy="89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D9488"/>
                </a:solidFill>
                <a:latin typeface="Microsoft YaHei"/>
              </a:rPr>
              <a:t>动作识别、训练辅助、过程评价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D9488"/>
                </a:solidFill>
                <a:latin typeface="Microsoft YaHei"/>
              </a:rPr>
              <a:t>拓展至体育教学与校园运动场景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3999" y="3240000"/>
            <a:ext cx="3131999" cy="1475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3999" y="3240000"/>
            <a:ext cx="100800" cy="14759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5998" y="3402000"/>
            <a:ext cx="273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224A"/>
                </a:solidFill>
                <a:latin typeface="Microsoft YaHei"/>
              </a:rPr>
              <a:t>管理系统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7999" y="3726000"/>
            <a:ext cx="2771999" cy="89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59E0B"/>
                </a:solidFill>
                <a:latin typeface="Microsoft YaHei"/>
              </a:rPr>
              <a:t>与校务、数据、流程系统协同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59E0B"/>
                </a:solidFill>
                <a:latin typeface="Microsoft YaHei"/>
              </a:rPr>
              <a:t>让 AI 能力从课堂延伸到学校运营层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人工智能应用演示方向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将教育能力延展到组织管理与内容生产场景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835999"/>
            <a:ext cx="3384000" cy="3168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835999"/>
            <a:ext cx="3384000" cy="396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000" y="1954800"/>
            <a:ext cx="72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演示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" y="2394000"/>
            <a:ext cx="23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224A"/>
                </a:solidFill>
                <a:latin typeface="Microsoft YaHei"/>
              </a:rPr>
              <a:t>数据统计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2790000"/>
            <a:ext cx="280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例如招聘数据统计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" y="3311999"/>
            <a:ext cx="288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icrosoft YaHei"/>
              </a:rPr>
              <a:t>自动汇总多维数据，快速输出分析结论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" y="4320000"/>
            <a:ext cx="28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63EB"/>
                </a:solidFill>
                <a:latin typeface="Microsoft YaHei"/>
              </a:rPr>
              <a:t>适合作为现场演示或试点切入口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6000" y="1835999"/>
            <a:ext cx="3384000" cy="3168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6000" y="1835999"/>
            <a:ext cx="3384000" cy="39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000" y="1954800"/>
            <a:ext cx="72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演示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4000" y="2394000"/>
            <a:ext cx="23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224A"/>
                </a:solidFill>
                <a:latin typeface="Microsoft YaHei"/>
              </a:rPr>
              <a:t>流程审批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4000" y="2790000"/>
            <a:ext cx="280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例如批量处理请假审批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4000" y="3311999"/>
            <a:ext cx="288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icrosoft YaHei"/>
              </a:rPr>
              <a:t>把重复性审批流交给 AI 辅助处理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000" y="4320000"/>
            <a:ext cx="28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Microsoft YaHei"/>
              </a:rPr>
              <a:t>适合作为现场演示或试点切入口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0000" y="1835999"/>
            <a:ext cx="3384000" cy="3168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0000" y="1835999"/>
            <a:ext cx="3384000" cy="3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2000" y="1954800"/>
            <a:ext cx="72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演示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8000" y="2394000"/>
            <a:ext cx="23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224A"/>
                </a:solidFill>
                <a:latin typeface="Microsoft YaHei"/>
              </a:rPr>
              <a:t>视频生成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8000" y="2790000"/>
            <a:ext cx="280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例如教学视频生成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8000" y="3311999"/>
            <a:ext cx="288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icrosoft YaHei"/>
              </a:rPr>
              <a:t>将内容生产从文本转向多媒体自动化生成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8000" y="4320000"/>
            <a:ext cx="28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</a:rPr>
              <a:t>适合作为现场演示或试点切入口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7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000" y="468000"/>
            <a:ext cx="864000" cy="25199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6000" y="511200"/>
            <a:ext cx="756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463EB"/>
                </a:solidFill>
                <a:latin typeface="Microsoft YaHe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24A"/>
                </a:solidFill>
                <a:latin typeface="Microsoft YaHei"/>
              </a:rPr>
              <a:t>建议的落地路径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098000"/>
            <a:ext cx="86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从试点验证到规模推广，降低实施风险</a:t>
            </a:r>
          </a:p>
        </p:txBody>
      </p:sp>
      <p:sp>
        <p:nvSpPr>
          <p:cNvPr id="7" name="Oval 6"/>
          <p:cNvSpPr/>
          <p:nvPr/>
        </p:nvSpPr>
        <p:spPr>
          <a:xfrm>
            <a:off x="503999" y="1872000"/>
            <a:ext cx="720000" cy="72000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2095200"/>
            <a:ext cx="503999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000" y="1836000"/>
            <a:ext cx="9648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999" y="1936800"/>
            <a:ext cx="108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999" y="2131200"/>
            <a:ext cx="28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试点场景验证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000" y="2116800"/>
            <a:ext cx="5903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</a:rPr>
              <a:t>选择 1-2 个最有感知度的场景，例如备课视频生成、课堂互动、审批自动化</a:t>
            </a:r>
          </a:p>
        </p:txBody>
      </p:sp>
      <p:sp>
        <p:nvSpPr>
          <p:cNvPr id="13" name="Oval 12"/>
          <p:cNvSpPr/>
          <p:nvPr/>
        </p:nvSpPr>
        <p:spPr>
          <a:xfrm>
            <a:off x="503999" y="3078000"/>
            <a:ext cx="720000" cy="72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" y="3301200"/>
            <a:ext cx="503999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0000" y="3042000"/>
            <a:ext cx="9648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5999" y="3142800"/>
            <a:ext cx="108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Microsoft YaHei"/>
              </a:rPr>
              <a:t>阶段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999" y="3337200"/>
            <a:ext cx="28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形成数据闭环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4000" y="3322800"/>
            <a:ext cx="5903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</a:rPr>
              <a:t>沉淀使用数据、课堂效果、效率收益，为后续复制提供量化依据</a:t>
            </a:r>
          </a:p>
        </p:txBody>
      </p:sp>
      <p:sp>
        <p:nvSpPr>
          <p:cNvPr id="19" name="Oval 18"/>
          <p:cNvSpPr/>
          <p:nvPr/>
        </p:nvSpPr>
        <p:spPr>
          <a:xfrm>
            <a:off x="503999" y="4284000"/>
            <a:ext cx="720000" cy="72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4507200"/>
            <a:ext cx="503999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0000" y="4248000"/>
            <a:ext cx="9648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55999" y="4348800"/>
            <a:ext cx="108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</a:rPr>
              <a:t>阶段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5999" y="4543200"/>
            <a:ext cx="28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224A"/>
                </a:solidFill>
                <a:latin typeface="Microsoft YaHei"/>
              </a:rPr>
              <a:t>平台化扩展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4000" y="4528800"/>
            <a:ext cx="5903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</a:rPr>
              <a:t>把内容生成、互动、评价、管理能力统一到平台中，服务更多校区/部门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6642000"/>
            <a:ext cx="1123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6696000"/>
            <a:ext cx="288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LumenX Studio | AI赋能教育与组织效率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60000" y="6660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43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BE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620000"/>
            <a:ext cx="576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AI 不是替代教学，
而是放大优质教学与高效管理。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736000"/>
            <a:ext cx="52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AE2FF"/>
                </a:solidFill>
                <a:latin typeface="Microsoft YaHei"/>
              </a:rPr>
              <a:t>建议以“可见效果、可量化收益、可复制扩展”为标准，
选择试点场景快速启动。</a:t>
            </a:r>
          </a:p>
        </p:txBody>
      </p:sp>
      <p:pic>
        <p:nvPicPr>
          <p:cNvPr id="6" name="Picture 5" descr="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99" y="1368000"/>
            <a:ext cx="4176000" cy="25855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40000" y="1224000"/>
            <a:ext cx="4464000" cy="3060000"/>
          </a:xfrm>
          <a:prstGeom prst="roundRect">
            <a:avLst/>
          </a:prstGeom>
          <a:noFill/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5724000"/>
            <a:ext cx="28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012000"/>
            <a:ext cx="43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DC8E6"/>
                </a:solidFill>
                <a:latin typeface="Microsoft YaHei"/>
              </a:rPr>
              <a:t>期待进一步交流试点方案与合作路径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